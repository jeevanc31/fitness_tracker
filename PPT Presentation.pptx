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6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0152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800" b="1">
                <a:solidFill>
                  <a:srgbClr val="182B49"/>
                </a:solidFill>
                <a:latin typeface="Arial"/>
              </a:defRPr>
            </a:pPr>
            <a:r>
              <a:rPr dirty="0"/>
              <a:t>DevOps Capstone Project:</a:t>
            </a:r>
            <a:br>
              <a:rPr dirty="0"/>
            </a:br>
            <a:r>
              <a:rPr dirty="0"/>
              <a:t>Enterprise Deployment &amp; Automation</a:t>
            </a:r>
          </a:p>
          <a:p>
            <a:pPr>
              <a:spcAft>
                <a:spcPts val="4000"/>
              </a:spcAft>
              <a:defRPr sz="1800" b="0">
                <a:solidFill>
                  <a:srgbClr val="646464"/>
                </a:solidFill>
                <a:latin typeface="Arial"/>
              </a:defRPr>
            </a:pPr>
            <a:r>
              <a:rPr dirty="0"/>
              <a:t>Multi-Environment </a:t>
            </a:r>
            <a:r>
              <a:rPr dirty="0" err="1"/>
              <a:t>GitOps</a:t>
            </a:r>
            <a:r>
              <a:rPr dirty="0"/>
              <a:t> </a:t>
            </a:r>
            <a:r>
              <a:rPr err="1"/>
              <a:t>CI</a:t>
            </a:r>
            <a:r>
              <a:t>,</a:t>
            </a:r>
            <a:r>
              <a:rPr lang="en-US"/>
              <a:t> SonarQube</a:t>
            </a:r>
            <a:r>
              <a:rPr lang="en-US" dirty="0"/>
              <a:t>, Argo CD, </a:t>
            </a:r>
            <a:r>
              <a:rPr lang="en-US" dirty="0" err="1"/>
              <a:t>DataDog</a:t>
            </a:r>
            <a:r>
              <a:rPr dirty="0"/>
              <a:t> and AI-Ops</a:t>
            </a:r>
          </a:p>
          <a:p>
            <a:pPr>
              <a:defRPr sz="1600" b="1">
                <a:solidFill>
                  <a:srgbClr val="182B49"/>
                </a:solidFill>
                <a:latin typeface="Arial"/>
              </a:defRPr>
            </a:pPr>
            <a:r>
              <a:rPr dirty="0"/>
              <a:t>Presented by: Jeevan C</a:t>
            </a:r>
          </a:p>
          <a:p>
            <a:pPr>
              <a:defRPr sz="1300" b="0">
                <a:solidFill>
                  <a:srgbClr val="787878"/>
                </a:solidFill>
                <a:latin typeface="Arial"/>
              </a:defRPr>
            </a:pPr>
            <a:r>
              <a:rPr dirty="0"/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Deployment Architecture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Unified Workflow: Code changes flow from Local Git repo -&gt; GitHub Actions -&gt; AWS ECR -&gt; EKS Cluster namespaces via ArgoCD.</a:t>
            </a:r>
          </a:p>
          <a:p>
            <a:pPr>
              <a:spcAft>
                <a:spcPts val="12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Environment Isolation: The Kubernetes cluster runs three completely segregated namespaces: Dev, Staging, and Production.</a:t>
            </a:r>
          </a:p>
          <a:p>
            <a:pPr>
              <a:spcAft>
                <a:spcPts val="12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Gateway API Routing: Client traffic enters through the AWS LoadBalancer and is routed dynamically via the Gateway API.</a:t>
            </a:r>
          </a:p>
          <a:p>
            <a:pPr>
              <a:spcAft>
                <a:spcPts val="12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Monitoring &amp; Logs: Node-level metrics and container logs are streamed directly to Datadog.</a:t>
            </a:r>
          </a:p>
        </p:txBody>
      </p:sp>
      <p:pic>
        <p:nvPicPr>
          <p:cNvPr id="4" name="Picture 3" descr="FitnessTra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7025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Phase 1 &amp; 2: AWS EKS &amp; Control Server Provisioning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AWS EKS Cluster: Provisioned an enterprise AWS EKS Cluster ('fitness-tracker-cluster') in ap-south-2 using eksctl with a managed node group.</a:t>
            </a:r>
          </a:p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Dedicated EC2 Server: Configured a remote Ubuntu management node with Docker, SonarQube Community LTS (port 9000), and a k3s local cluster.</a:t>
            </a:r>
          </a:p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Network Configuration: Custom Security Groups with opened ingress ports for SonarQube and local ArgoCD Dashboard NodePorts (32542).</a:t>
            </a:r>
          </a:p>
        </p:txBody>
      </p:sp>
      <p:pic>
        <p:nvPicPr>
          <p:cNvPr id="4" name="Picture 3" descr="e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7025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Phase 3: CI/CD Pipeline &amp; Static Code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GitHub Actions Pipeline: Configured automated validation workflow triggered on every push or pull request to develop, staging, and master branches.</a:t>
            </a:r>
          </a:p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Linting &amp; Unit Tests: Validates syntax styling via ESLint and runs frontend/backend unit tests before compiling container images.</a:t>
            </a:r>
          </a:p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SonarQube Scan Integration: Invokes SonarQube Scanner using secrets and rejects workflow execution if the custom Quality Gate criteria is not met.</a:t>
            </a:r>
          </a:p>
        </p:txBody>
      </p:sp>
      <p:pic>
        <p:nvPicPr>
          <p:cNvPr id="4" name="Picture 3" descr="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702552" cy="2194560"/>
          </a:xfrm>
          <a:prstGeom prst="rect">
            <a:avLst/>
          </a:prstGeom>
        </p:spPr>
      </p:pic>
      <p:pic>
        <p:nvPicPr>
          <p:cNvPr id="5" name="Picture 4" descr="SonarQ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749039"/>
            <a:ext cx="6702552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Phase 3.5: AWS ECR Registry &amp; Automated Promotion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Private AWS ECR Registry: Secure AWS ECR repository initialized in the EKS region to store and pull application images.</a:t>
            </a:r>
          </a:p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Image Promotion Principle: Automated the image promotion script in the CI pipeline to copy tested images between environments (develop -&gt; staging -&gt; master) without rebuilding.</a:t>
            </a:r>
          </a:p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Consistency and Reliability: Ensures the exact same verified binary deployed in dev is promoted all the way to production, eliminating compile-time drift.</a:t>
            </a:r>
          </a:p>
        </p:txBody>
      </p:sp>
      <p:pic>
        <p:nvPicPr>
          <p:cNvPr id="4" name="Picture 3" descr="E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7025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Phase 4: GitOps Continuous Delivery with ArgoCD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GitOps Agent on EKS: ArgoCD deployed inside the EKS cluster namespace. Serves as the single source of truth for the cluster states.</a:t>
            </a:r>
          </a:p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Git Repository Synchronization: Watches changes in the Git repository's Helm chart files and automatically pulls and updates Kubernetes workloads.</a:t>
            </a:r>
          </a:p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Target Revision Tracking: App configured to sync develop branch to Dev environment, staging branch to Staging, and master branch to Production namespace.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94960" cy="4114800"/>
          </a:xfrm>
          <a:prstGeom prst="rect">
            <a:avLst/>
          </a:prstGeom>
        </p:spPr>
      </p:pic>
      <p:pic>
        <p:nvPicPr>
          <p:cNvPr id="5" name="Picture 4" descr="Environ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645920"/>
            <a:ext cx="53949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Active Kubernetes Workloads &amp; Pods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Multi-Namespace Isolation: Deployed apps in fitness-tracker-dev, fitness-tracker-staging, and fitness-tracker-production namespaces.</a:t>
            </a:r>
          </a:p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App Pods &amp; Replicas: Scaling set up per environment (1 replica in dev, 2 replicas in staging, and 3 replicas in production).</a:t>
            </a:r>
          </a:p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Database Setup: MongoDB Stateful deployment configured in each namespace with persistent volume (PV) directories mapped to local storage mount paths.</a:t>
            </a:r>
          </a:p>
        </p:txBody>
      </p:sp>
      <p:pic>
        <p:nvPicPr>
          <p:cNvPr id="4" name="Picture 3" descr="P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7025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Phase 5 &amp; 11: Enterprise Observability with Datadog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Datadog DaemonSet: Deployed Datadog agent daemonset globally to the cluster using Helm to inspect every running node.</a:t>
            </a:r>
          </a:p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Log &amp; Metrics Harvesting: Configured logs enablement and container auto-collection. Streams app logs, JVM/Node.js memory metrics, and host CPU loads.</a:t>
            </a:r>
          </a:p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APM Tracing Integration: Node.js environment variables (DD_ENV, DD_SERVICE, DD_VERSION) map pod traces directly to Datadog's APM server.</a:t>
            </a:r>
          </a:p>
        </p:txBody>
      </p:sp>
      <p:pic>
        <p:nvPicPr>
          <p:cNvPr id="4" name="Picture 3" descr="DataD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702552" cy="2194560"/>
          </a:xfrm>
          <a:prstGeom prst="rect">
            <a:avLst/>
          </a:prstGeom>
        </p:spPr>
      </p:pic>
      <p:pic>
        <p:nvPicPr>
          <p:cNvPr id="5" name="Picture 4" descr="datado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749039"/>
            <a:ext cx="6702552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Phase 8 &amp; 12: AI-Ops SRE Agent &amp; Self-Healing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Automated Log Scanner: Implemented an automated python SRE agent that pulls and reads live application container stdout logs.</a:t>
            </a:r>
          </a:p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Intelligent Failure Detection: Identifies specific crashes such as database connection issues (Mongoose errors), OOM container exits, or secret key omissions.</a:t>
            </a:r>
          </a:p>
          <a:p>
            <a:pPr>
              <a:spcAft>
                <a:spcPts val="1600"/>
              </a:spcAft>
              <a:defRPr sz="1400" b="0">
                <a:solidFill>
                  <a:srgbClr val="3C3C3C"/>
                </a:solidFill>
                <a:latin typeface="Arial"/>
              </a:defRPr>
            </a:pPr>
            <a:r>
              <a:t>• Auto-Recovery Generation: Automatically outputs diagnosis execution scripts (`cluster_diag.sh` or `auto_recover.sh`) to self-heal the workloads instantly.</a:t>
            </a:r>
          </a:p>
        </p:txBody>
      </p:sp>
      <p:pic>
        <p:nvPicPr>
          <p:cNvPr id="4" name="Picture 3" descr="ai-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7025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2B49"/>
                </a:solidFill>
                <a:latin typeface="Arial"/>
              </a:defRPr>
            </a:pPr>
            <a:r>
              <a:t>Verification, Rollback &amp; Infrastructure Teardown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0">
                <a:solidFill>
                  <a:srgbClr val="3C3C3C"/>
                </a:solidFill>
                <a:latin typeface="Arial"/>
              </a:defRPr>
            </a:pPr>
            <a:r>
              <a:t>• Deploy Verification: Inspected pod status via `kubectl get pods` across all namespaces to guarantee 1/1 Running status and validated exposed service IPs.</a:t>
            </a:r>
          </a:p>
          <a:p>
            <a:pPr>
              <a:spcAft>
                <a:spcPts val="2000"/>
              </a:spcAft>
              <a:defRPr sz="1500" b="0">
                <a:solidFill>
                  <a:srgbClr val="3C3C3C"/>
                </a:solidFill>
                <a:latin typeface="Arial"/>
              </a:defRPr>
            </a:pPr>
            <a:r>
              <a:t>• 1-Click Rollback: ArgoCD maintains detailed history revisions. In case of failure, a rollback can be executed instantly to revert the environment to a previous stable commit tag in Git.</a:t>
            </a:r>
          </a:p>
          <a:p>
            <a:pPr>
              <a:spcAft>
                <a:spcPts val="2000"/>
              </a:spcAft>
              <a:defRPr sz="1500" b="0">
                <a:solidFill>
                  <a:srgbClr val="3C3C3C"/>
                </a:solidFill>
                <a:latin typeface="Arial"/>
              </a:defRPr>
            </a:pPr>
            <a:r>
              <a:t>• Clean Resource Teardown: Executed complete resource destruction using `eksctl delete cluster` and AWS CLI ECR force-delete commands to clean up the nodes, volumes, load balancers, and container registry fully, preventing billing leaks.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Jira Board &amp; Agile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C3C3C"/>
                </a:solidFill>
                <a:latin typeface="Arial"/>
              </a:defRPr>
            </a:pPr>
            <a:r>
              <a:t>Configured an Agile Scrum board in Jira with a clear hierarchy of Epics, User Stories, Tasks, and Sub-tasks to manage SCM, CI/CD, GitOps, and Observability phases.</a:t>
            </a:r>
          </a:p>
        </p:txBody>
      </p:sp>
      <p:pic>
        <p:nvPicPr>
          <p:cNvPr id="4" name="Picture 3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94960" cy="4114800"/>
          </a:xfrm>
          <a:prstGeom prst="rect">
            <a:avLst/>
          </a:prstGeom>
        </p:spPr>
      </p:pic>
      <p:pic>
        <p:nvPicPr>
          <p:cNvPr id="5" name="Picture 4" descr="Back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645920"/>
            <a:ext cx="539496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810</Words>
  <Application>Microsoft Office PowerPoint</Application>
  <PresentationFormat>Custom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Jeevan C</cp:lastModifiedBy>
  <cp:revision>2</cp:revision>
  <dcterms:created xsi:type="dcterms:W3CDTF">2013-01-27T09:14:16Z</dcterms:created>
  <dcterms:modified xsi:type="dcterms:W3CDTF">2026-06-10T14:51:57Z</dcterms:modified>
  <cp:category/>
</cp:coreProperties>
</file>